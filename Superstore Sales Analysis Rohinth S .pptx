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5" r:id="rId1"/>
  </p:sldMasterIdLst>
  <p:sldIdLst>
    <p:sldId id="256" r:id="rId2"/>
    <p:sldId id="257" r:id="rId3"/>
    <p:sldId id="258" r:id="rId4"/>
    <p:sldId id="259" r:id="rId5"/>
    <p:sldId id="261" r:id="rId6"/>
    <p:sldId id="260"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charts/_rels/chart1.xml.rels><?xml version="1.0" encoding="UTF-8" standalone="yes"?>
<Relationships xmlns="http://schemas.openxmlformats.org/package/2006/relationships"><Relationship Id="rId3" Type="http://schemas.openxmlformats.org/officeDocument/2006/relationships/oleObject" Target="file:///D:\DADS\B\Excel\Reinforcement%20Project%20-%20Advanced%20Excel\Superstores%20sales%20dataset%20Rohinth%20S.xlsm"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[Superstores sales dataset Rohinth S.xlsm]8!PivotTable13</c:name>
    <c:fmtId val="5"/>
  </c:pivotSource>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'8'!$B$15</c:f>
              <c:strCache>
                <c:ptCount val="1"/>
                <c:pt idx="0">
                  <c:v>Total</c:v>
                </c:pt>
              </c:strCache>
            </c:strRef>
          </c:tx>
          <c:spPr>
            <a:solidFill>
              <a:schemeClr val="accent1"/>
            </a:solidFill>
            <a:ln>
              <a:noFill/>
            </a:ln>
            <a:effectLst/>
          </c:spPr>
          <c:invertIfNegative val="0"/>
          <c:cat>
            <c:strRef>
              <c:f>'8'!$A$16:$A$20</c:f>
              <c:strCache>
                <c:ptCount val="4"/>
                <c:pt idx="0">
                  <c:v>First Class</c:v>
                </c:pt>
                <c:pt idx="1">
                  <c:v>Same Day</c:v>
                </c:pt>
                <c:pt idx="2">
                  <c:v>Second Class</c:v>
                </c:pt>
                <c:pt idx="3">
                  <c:v>Standard Class</c:v>
                </c:pt>
              </c:strCache>
            </c:strRef>
          </c:cat>
          <c:val>
            <c:numRef>
              <c:f>'8'!$B$16:$B$20</c:f>
              <c:numCache>
                <c:formatCode>_-[$$-409]* #,##0.00_ ;_-[$$-409]* \-#,##0.00\ ;_-[$$-409]* "-"??_ ;_-@_ </c:formatCode>
                <c:ptCount val="4"/>
                <c:pt idx="0">
                  <c:v>299633.24670000013</c:v>
                </c:pt>
                <c:pt idx="1">
                  <c:v>108266.98950000003</c:v>
                </c:pt>
                <c:pt idx="2">
                  <c:v>403362.7549</c:v>
                </c:pt>
                <c:pt idx="3">
                  <c:v>1163355.842399999</c:v>
                </c:pt>
              </c:numCache>
            </c:numRef>
          </c:val>
          <c:extLst>
            <c:ext xmlns:c16="http://schemas.microsoft.com/office/drawing/2014/chart" uri="{C3380CC4-5D6E-409C-BE32-E72D297353CC}">
              <c16:uniqueId val="{00000000-0949-43ED-AD5E-8C0CC609C668}"/>
            </c:ext>
          </c:extLst>
        </c:ser>
        <c:dLbls>
          <c:showLegendKey val="0"/>
          <c:showVal val="0"/>
          <c:showCatName val="0"/>
          <c:showSerName val="0"/>
          <c:showPercent val="0"/>
          <c:showBubbleSize val="0"/>
        </c:dLbls>
        <c:gapWidth val="182"/>
        <c:axId val="559100480"/>
        <c:axId val="559094720"/>
      </c:barChart>
      <c:catAx>
        <c:axId val="55910048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9094720"/>
        <c:crosses val="autoZero"/>
        <c:auto val="1"/>
        <c:lblAlgn val="ctr"/>
        <c:lblOffset val="100"/>
        <c:noMultiLvlLbl val="0"/>
      </c:catAx>
      <c:valAx>
        <c:axId val="559094720"/>
        <c:scaling>
          <c:orientation val="minMax"/>
        </c:scaling>
        <c:delete val="0"/>
        <c:axPos val="b"/>
        <c:majorGridlines>
          <c:spPr>
            <a:ln w="9525" cap="flat" cmpd="sng" algn="ctr">
              <a:solidFill>
                <a:schemeClr val="tx1">
                  <a:lumMod val="15000"/>
                  <a:lumOff val="85000"/>
                </a:schemeClr>
              </a:solidFill>
              <a:round/>
            </a:ln>
            <a:effectLst/>
          </c:spPr>
        </c:majorGridlines>
        <c:numFmt formatCode="_-[$$-409]* #,##0.00_ ;_-[$$-409]* \-#,##0.00\ ;_-[$$-409]* &quot;-&quot;??_ ;_-@_ "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910048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0403115-673B-42CE-8A59-E6D5F9D7D5F4}" type="datetimeFigureOut">
              <a:rPr lang="en-IN" smtClean="0"/>
              <a:t>11-11-2025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14F98C-39DD-4E3C-97C9-21C28BF0F0C0}" type="slidenum">
              <a:rPr lang="en-IN" smtClean="0"/>
              <a:t>‹#›</a:t>
            </a:fld>
            <a:endParaRPr lang="en-IN"/>
          </a:p>
        </p:txBody>
      </p:sp>
    </p:spTree>
    <p:extLst>
      <p:ext uri="{BB962C8B-B14F-4D97-AF65-F5344CB8AC3E}">
        <p14:creationId xmlns:p14="http://schemas.microsoft.com/office/powerpoint/2010/main" val="11236421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0403115-673B-42CE-8A59-E6D5F9D7D5F4}" type="datetimeFigureOut">
              <a:rPr lang="en-IN" smtClean="0"/>
              <a:t>11-11-2025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14F98C-39DD-4E3C-97C9-21C28BF0F0C0}" type="slidenum">
              <a:rPr lang="en-IN" smtClean="0"/>
              <a:t>‹#›</a:t>
            </a:fld>
            <a:endParaRPr lang="en-IN"/>
          </a:p>
        </p:txBody>
      </p:sp>
    </p:spTree>
    <p:extLst>
      <p:ext uri="{BB962C8B-B14F-4D97-AF65-F5344CB8AC3E}">
        <p14:creationId xmlns:p14="http://schemas.microsoft.com/office/powerpoint/2010/main" val="31030679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0403115-673B-42CE-8A59-E6D5F9D7D5F4}" type="datetimeFigureOut">
              <a:rPr lang="en-IN" smtClean="0"/>
              <a:t>11-11-2025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14F98C-39DD-4E3C-97C9-21C28BF0F0C0}" type="slidenum">
              <a:rPr lang="en-IN" smtClean="0"/>
              <a:t>‹#›</a:t>
            </a:fld>
            <a:endParaRPr lang="en-IN"/>
          </a:p>
        </p:txBody>
      </p:sp>
    </p:spTree>
    <p:extLst>
      <p:ext uri="{BB962C8B-B14F-4D97-AF65-F5344CB8AC3E}">
        <p14:creationId xmlns:p14="http://schemas.microsoft.com/office/powerpoint/2010/main" val="3640863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0403115-673B-42CE-8A59-E6D5F9D7D5F4}" type="datetimeFigureOut">
              <a:rPr lang="en-IN" smtClean="0"/>
              <a:t>11-11-2025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A14F98C-39DD-4E3C-97C9-21C28BF0F0C0}" type="slidenum">
              <a:rPr lang="en-IN" smtClean="0"/>
              <a:t>‹#›</a:t>
            </a:fld>
            <a:endParaRPr lang="en-IN"/>
          </a:p>
        </p:txBody>
      </p:sp>
    </p:spTree>
    <p:extLst>
      <p:ext uri="{BB962C8B-B14F-4D97-AF65-F5344CB8AC3E}">
        <p14:creationId xmlns:p14="http://schemas.microsoft.com/office/powerpoint/2010/main" val="1535020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0403115-673B-42CE-8A59-E6D5F9D7D5F4}" type="datetimeFigureOut">
              <a:rPr lang="en-IN" smtClean="0"/>
              <a:t>11-11-2025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A14F98C-39DD-4E3C-97C9-21C28BF0F0C0}" type="slidenum">
              <a:rPr lang="en-IN" smtClean="0"/>
              <a:t>‹#›</a:t>
            </a:fld>
            <a:endParaRPr lang="en-IN"/>
          </a:p>
        </p:txBody>
      </p:sp>
    </p:spTree>
    <p:extLst>
      <p:ext uri="{BB962C8B-B14F-4D97-AF65-F5344CB8AC3E}">
        <p14:creationId xmlns:p14="http://schemas.microsoft.com/office/powerpoint/2010/main" val="4032713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0403115-673B-42CE-8A59-E6D5F9D7D5F4}" type="datetimeFigureOut">
              <a:rPr lang="en-IN" smtClean="0"/>
              <a:t>11-11-2025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A14F98C-39DD-4E3C-97C9-21C28BF0F0C0}" type="slidenum">
              <a:rPr lang="en-IN" smtClean="0"/>
              <a:t>‹#›</a:t>
            </a:fld>
            <a:endParaRPr lang="en-IN"/>
          </a:p>
        </p:txBody>
      </p:sp>
    </p:spTree>
    <p:extLst>
      <p:ext uri="{BB962C8B-B14F-4D97-AF65-F5344CB8AC3E}">
        <p14:creationId xmlns:p14="http://schemas.microsoft.com/office/powerpoint/2010/main" val="29484923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403115-673B-42CE-8A59-E6D5F9D7D5F4}" type="datetimeFigureOut">
              <a:rPr lang="en-IN" smtClean="0"/>
              <a:t>11-11-2025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A14F98C-39DD-4E3C-97C9-21C28BF0F0C0}" type="slidenum">
              <a:rPr lang="en-IN" smtClean="0"/>
              <a:t>‹#›</a:t>
            </a:fld>
            <a:endParaRPr lang="en-IN"/>
          </a:p>
        </p:txBody>
      </p:sp>
    </p:spTree>
    <p:extLst>
      <p:ext uri="{BB962C8B-B14F-4D97-AF65-F5344CB8AC3E}">
        <p14:creationId xmlns:p14="http://schemas.microsoft.com/office/powerpoint/2010/main" val="13869515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0403115-673B-42CE-8A59-E6D5F9D7D5F4}" type="datetimeFigureOut">
              <a:rPr lang="en-IN" smtClean="0"/>
              <a:t>11-11-2025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A14F98C-39DD-4E3C-97C9-21C28BF0F0C0}" type="slidenum">
              <a:rPr lang="en-IN" smtClean="0"/>
              <a:t>‹#›</a:t>
            </a:fld>
            <a:endParaRPr lang="en-IN"/>
          </a:p>
        </p:txBody>
      </p:sp>
    </p:spTree>
    <p:extLst>
      <p:ext uri="{BB962C8B-B14F-4D97-AF65-F5344CB8AC3E}">
        <p14:creationId xmlns:p14="http://schemas.microsoft.com/office/powerpoint/2010/main" val="3584301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0403115-673B-42CE-8A59-E6D5F9D7D5F4}" type="datetimeFigureOut">
              <a:rPr lang="en-IN" smtClean="0"/>
              <a:t>11-11-2025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A14F98C-39DD-4E3C-97C9-21C28BF0F0C0}" type="slidenum">
              <a:rPr lang="en-IN" smtClean="0"/>
              <a:t>‹#›</a:t>
            </a:fld>
            <a:endParaRPr lang="en-IN"/>
          </a:p>
        </p:txBody>
      </p:sp>
    </p:spTree>
    <p:extLst>
      <p:ext uri="{BB962C8B-B14F-4D97-AF65-F5344CB8AC3E}">
        <p14:creationId xmlns:p14="http://schemas.microsoft.com/office/powerpoint/2010/main" val="4163117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0403115-673B-42CE-8A59-E6D5F9D7D5F4}" type="datetimeFigureOut">
              <a:rPr lang="en-IN" smtClean="0"/>
              <a:t>11-11-2025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14F98C-39DD-4E3C-97C9-21C28BF0F0C0}" type="slidenum">
              <a:rPr lang="en-IN" smtClean="0"/>
              <a:t>‹#›</a:t>
            </a:fld>
            <a:endParaRPr lang="en-IN"/>
          </a:p>
        </p:txBody>
      </p:sp>
    </p:spTree>
    <p:extLst>
      <p:ext uri="{BB962C8B-B14F-4D97-AF65-F5344CB8AC3E}">
        <p14:creationId xmlns:p14="http://schemas.microsoft.com/office/powerpoint/2010/main" val="435905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0403115-673B-42CE-8A59-E6D5F9D7D5F4}" type="datetimeFigureOut">
              <a:rPr lang="en-IN" smtClean="0"/>
              <a:t>11-11-2025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14F98C-39DD-4E3C-97C9-21C28BF0F0C0}"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9754110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0403115-673B-42CE-8A59-E6D5F9D7D5F4}" type="datetimeFigureOut">
              <a:rPr lang="en-IN" smtClean="0"/>
              <a:t>11-11-2025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14F98C-39DD-4E3C-97C9-21C28BF0F0C0}" type="slidenum">
              <a:rPr lang="en-IN" smtClean="0"/>
              <a:t>‹#›</a:t>
            </a:fld>
            <a:endParaRPr lang="en-IN"/>
          </a:p>
        </p:txBody>
      </p:sp>
    </p:spTree>
    <p:extLst>
      <p:ext uri="{BB962C8B-B14F-4D97-AF65-F5344CB8AC3E}">
        <p14:creationId xmlns:p14="http://schemas.microsoft.com/office/powerpoint/2010/main" val="38478473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0403115-673B-42CE-8A59-E6D5F9D7D5F4}" type="datetimeFigureOut">
              <a:rPr lang="en-IN" smtClean="0"/>
              <a:t>11-11-2025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14F98C-39DD-4E3C-97C9-21C28BF0F0C0}"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2503248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0403115-673B-42CE-8A59-E6D5F9D7D5F4}" type="datetimeFigureOut">
              <a:rPr lang="en-IN" smtClean="0"/>
              <a:t>11-11-2025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14F98C-39DD-4E3C-97C9-21C28BF0F0C0}" type="slidenum">
              <a:rPr lang="en-IN" smtClean="0"/>
              <a:t>‹#›</a:t>
            </a:fld>
            <a:endParaRPr lang="en-IN"/>
          </a:p>
        </p:txBody>
      </p:sp>
    </p:spTree>
    <p:extLst>
      <p:ext uri="{BB962C8B-B14F-4D97-AF65-F5344CB8AC3E}">
        <p14:creationId xmlns:p14="http://schemas.microsoft.com/office/powerpoint/2010/main" val="42853177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0403115-673B-42CE-8A59-E6D5F9D7D5F4}" type="datetimeFigureOut">
              <a:rPr lang="en-IN" smtClean="0"/>
              <a:t>11-11-2025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14F98C-39DD-4E3C-97C9-21C28BF0F0C0}" type="slidenum">
              <a:rPr lang="en-IN" smtClean="0"/>
              <a:t>‹#›</a:t>
            </a:fld>
            <a:endParaRPr lang="en-IN"/>
          </a:p>
        </p:txBody>
      </p:sp>
    </p:spTree>
    <p:extLst>
      <p:ext uri="{BB962C8B-B14F-4D97-AF65-F5344CB8AC3E}">
        <p14:creationId xmlns:p14="http://schemas.microsoft.com/office/powerpoint/2010/main" val="35122783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0403115-673B-42CE-8A59-E6D5F9D7D5F4}" type="datetimeFigureOut">
              <a:rPr lang="en-IN" smtClean="0"/>
              <a:t>11-11-2025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14F98C-39DD-4E3C-97C9-21C28BF0F0C0}" type="slidenum">
              <a:rPr lang="en-IN" smtClean="0"/>
              <a:t>‹#›</a:t>
            </a:fld>
            <a:endParaRPr lang="en-IN"/>
          </a:p>
        </p:txBody>
      </p:sp>
    </p:spTree>
    <p:extLst>
      <p:ext uri="{BB962C8B-B14F-4D97-AF65-F5344CB8AC3E}">
        <p14:creationId xmlns:p14="http://schemas.microsoft.com/office/powerpoint/2010/main" val="34014743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0403115-673B-42CE-8A59-E6D5F9D7D5F4}" type="datetimeFigureOut">
              <a:rPr lang="en-IN" smtClean="0"/>
              <a:t>11-11-2025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A14F98C-39DD-4E3C-97C9-21C28BF0F0C0}" type="slidenum">
              <a:rPr lang="en-IN" smtClean="0"/>
              <a:t>‹#›</a:t>
            </a:fld>
            <a:endParaRPr lang="en-IN"/>
          </a:p>
        </p:txBody>
      </p:sp>
    </p:spTree>
    <p:extLst>
      <p:ext uri="{BB962C8B-B14F-4D97-AF65-F5344CB8AC3E}">
        <p14:creationId xmlns:p14="http://schemas.microsoft.com/office/powerpoint/2010/main" val="195516850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 id="2147483767" r:id="rId12"/>
    <p:sldLayoutId id="2147483768" r:id="rId13"/>
    <p:sldLayoutId id="2147483769" r:id="rId14"/>
    <p:sldLayoutId id="2147483770" r:id="rId15"/>
    <p:sldLayoutId id="2147483771"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7DD02-F5F1-0481-38D9-9ACEC4BED3DD}"/>
              </a:ext>
            </a:extLst>
          </p:cNvPr>
          <p:cNvSpPr>
            <a:spLocks noGrp="1"/>
          </p:cNvSpPr>
          <p:nvPr>
            <p:ph type="ctrTitle"/>
          </p:nvPr>
        </p:nvSpPr>
        <p:spPr>
          <a:xfrm>
            <a:off x="1154955" y="675250"/>
            <a:ext cx="8825658" cy="2447778"/>
          </a:xfrm>
        </p:spPr>
        <p:txBody>
          <a:bodyPr>
            <a:normAutofit/>
          </a:bodyPr>
          <a:lstStyle/>
          <a:p>
            <a:r>
              <a:rPr lang="en-US" sz="5400" b="1" dirty="0"/>
              <a:t>Superstore Sales Analysis-</a:t>
            </a:r>
            <a:br>
              <a:rPr lang="en-US" sz="5400" b="1" dirty="0"/>
            </a:br>
            <a:r>
              <a:rPr lang="en-US" sz="5400" b="1" dirty="0"/>
              <a:t>Advanced Excel Project</a:t>
            </a:r>
            <a:endParaRPr lang="en-IN" sz="5400" b="1" dirty="0"/>
          </a:p>
        </p:txBody>
      </p:sp>
      <p:sp>
        <p:nvSpPr>
          <p:cNvPr id="3" name="Subtitle 2">
            <a:extLst>
              <a:ext uri="{FF2B5EF4-FFF2-40B4-BE49-F238E27FC236}">
                <a16:creationId xmlns:a16="http://schemas.microsoft.com/office/drawing/2014/main" id="{EB01F843-CE1C-F11D-5A8B-3A6EF98FE0AC}"/>
              </a:ext>
            </a:extLst>
          </p:cNvPr>
          <p:cNvSpPr>
            <a:spLocks noGrp="1"/>
          </p:cNvSpPr>
          <p:nvPr>
            <p:ph type="subTitle" idx="1"/>
          </p:nvPr>
        </p:nvSpPr>
        <p:spPr>
          <a:xfrm>
            <a:off x="1524000" y="3429000"/>
            <a:ext cx="9144000" cy="2447778"/>
          </a:xfrm>
        </p:spPr>
        <p:txBody>
          <a:bodyPr>
            <a:normAutofit/>
          </a:bodyPr>
          <a:lstStyle/>
          <a:p>
            <a:pPr marL="457200" indent="-457200" algn="r">
              <a:buFontTx/>
              <a:buChar char="-"/>
            </a:pPr>
            <a:r>
              <a:rPr lang="en-US" sz="2400" b="1" dirty="0"/>
              <a:t>Rohinth Shanmugasundaram</a:t>
            </a:r>
          </a:p>
          <a:p>
            <a:pPr marL="457200" indent="-457200" algn="r">
              <a:buFontTx/>
              <a:buChar char="-"/>
            </a:pPr>
            <a:r>
              <a:rPr lang="en-US" sz="2400" b="1" dirty="0"/>
              <a:t>DADS</a:t>
            </a:r>
          </a:p>
          <a:p>
            <a:pPr marL="457200" indent="-457200" algn="r">
              <a:buFontTx/>
              <a:buChar char="-"/>
            </a:pPr>
            <a:r>
              <a:rPr lang="en-US" sz="2400" b="1" dirty="0"/>
              <a:t>August 2025 batch</a:t>
            </a:r>
          </a:p>
          <a:p>
            <a:pPr marL="457200" indent="-457200" algn="r">
              <a:buFontTx/>
              <a:buChar char="-"/>
            </a:pPr>
            <a:r>
              <a:rPr lang="en-US" sz="2400" b="1" dirty="0"/>
              <a:t>11/11/2025</a:t>
            </a:r>
            <a:endParaRPr lang="en-IN" sz="2400" b="1" dirty="0"/>
          </a:p>
        </p:txBody>
      </p:sp>
    </p:spTree>
    <p:extLst>
      <p:ext uri="{BB962C8B-B14F-4D97-AF65-F5344CB8AC3E}">
        <p14:creationId xmlns:p14="http://schemas.microsoft.com/office/powerpoint/2010/main" val="2155466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BEC15-89E3-F236-BEEB-485C3712CDE1}"/>
              </a:ext>
            </a:extLst>
          </p:cNvPr>
          <p:cNvSpPr>
            <a:spLocks noGrp="1"/>
          </p:cNvSpPr>
          <p:nvPr>
            <p:ph type="title"/>
          </p:nvPr>
        </p:nvSpPr>
        <p:spPr/>
        <p:txBody>
          <a:bodyPr/>
          <a:lstStyle/>
          <a:p>
            <a:r>
              <a:rPr lang="en-US" b="1" dirty="0"/>
              <a:t>Project Overview</a:t>
            </a:r>
            <a:endParaRPr lang="en-IN" b="1" dirty="0"/>
          </a:p>
        </p:txBody>
      </p:sp>
      <p:sp>
        <p:nvSpPr>
          <p:cNvPr id="3" name="Content Placeholder 2">
            <a:extLst>
              <a:ext uri="{FF2B5EF4-FFF2-40B4-BE49-F238E27FC236}">
                <a16:creationId xmlns:a16="http://schemas.microsoft.com/office/drawing/2014/main" id="{892D3E5E-758C-4C92-EE60-F7A1ED5AB172}"/>
              </a:ext>
            </a:extLst>
          </p:cNvPr>
          <p:cNvSpPr>
            <a:spLocks noGrp="1"/>
          </p:cNvSpPr>
          <p:nvPr>
            <p:ph idx="1"/>
          </p:nvPr>
        </p:nvSpPr>
        <p:spPr/>
        <p:txBody>
          <a:bodyPr>
            <a:normAutofit fontScale="92500" lnSpcReduction="10000"/>
          </a:bodyPr>
          <a:lstStyle/>
          <a:p>
            <a:r>
              <a:rPr lang="en-US" sz="2400" dirty="0"/>
              <a:t>The Data set provided with is Superstore dataset.</a:t>
            </a:r>
          </a:p>
          <a:p>
            <a:r>
              <a:rPr lang="en-US" sz="2400" dirty="0"/>
              <a:t>Here we analyze retail sales data.</a:t>
            </a:r>
          </a:p>
          <a:p>
            <a:r>
              <a:rPr lang="en-US" sz="2400" dirty="0"/>
              <a:t>The main objective is to give insights on how to increase the sales by supporting relevant metrics like discount, quantity etc.,</a:t>
            </a:r>
          </a:p>
          <a:p>
            <a:r>
              <a:rPr lang="en-US" sz="2400" dirty="0"/>
              <a:t>We can also suggest the retail store to how and where to focus their attention like specific product category or specific shipping channels.</a:t>
            </a:r>
          </a:p>
          <a:p>
            <a:r>
              <a:rPr lang="en-US" sz="2400" dirty="0"/>
              <a:t>So, this project will help the client to understand their performance and they will have their way to enhance it further.</a:t>
            </a:r>
          </a:p>
          <a:p>
            <a:endParaRPr lang="en-IN" dirty="0"/>
          </a:p>
        </p:txBody>
      </p:sp>
    </p:spTree>
    <p:extLst>
      <p:ext uri="{BB962C8B-B14F-4D97-AF65-F5344CB8AC3E}">
        <p14:creationId xmlns:p14="http://schemas.microsoft.com/office/powerpoint/2010/main" val="32196711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D050F-6891-671E-8172-2879C8651AD4}"/>
              </a:ext>
            </a:extLst>
          </p:cNvPr>
          <p:cNvSpPr>
            <a:spLocks noGrp="1"/>
          </p:cNvSpPr>
          <p:nvPr>
            <p:ph type="title"/>
          </p:nvPr>
        </p:nvSpPr>
        <p:spPr/>
        <p:txBody>
          <a:bodyPr/>
          <a:lstStyle/>
          <a:p>
            <a:r>
              <a:rPr lang="en-US" b="1" dirty="0"/>
              <a:t>Data Description and Preparation</a:t>
            </a:r>
            <a:endParaRPr lang="en-IN" b="1" dirty="0"/>
          </a:p>
        </p:txBody>
      </p:sp>
      <p:sp>
        <p:nvSpPr>
          <p:cNvPr id="3" name="Content Placeholder 2">
            <a:extLst>
              <a:ext uri="{FF2B5EF4-FFF2-40B4-BE49-F238E27FC236}">
                <a16:creationId xmlns:a16="http://schemas.microsoft.com/office/drawing/2014/main" id="{76C3B404-E083-BE44-7285-7331F3315E61}"/>
              </a:ext>
            </a:extLst>
          </p:cNvPr>
          <p:cNvSpPr>
            <a:spLocks noGrp="1"/>
          </p:cNvSpPr>
          <p:nvPr>
            <p:ph idx="1"/>
          </p:nvPr>
        </p:nvSpPr>
        <p:spPr/>
        <p:txBody>
          <a:bodyPr/>
          <a:lstStyle/>
          <a:p>
            <a:r>
              <a:rPr lang="en-US" sz="2400" dirty="0"/>
              <a:t>Number of rows = 9994 rows of distinct values</a:t>
            </a:r>
          </a:p>
          <a:p>
            <a:r>
              <a:rPr lang="en-US" sz="2400" dirty="0"/>
              <a:t>There are no duplicate value</a:t>
            </a:r>
          </a:p>
          <a:p>
            <a:r>
              <a:rPr lang="en-US" sz="2400" dirty="0"/>
              <a:t>There are nearly 30 columns including the columns aggregated after analysis.</a:t>
            </a:r>
          </a:p>
          <a:p>
            <a:r>
              <a:rPr lang="en-US" sz="2400" dirty="0"/>
              <a:t>Important relevant columns are sales, discount, ship mode, category, segment, order date.</a:t>
            </a:r>
          </a:p>
          <a:p>
            <a:pPr marL="0" indent="0">
              <a:buNone/>
            </a:pPr>
            <a:endParaRPr lang="en-IN" dirty="0"/>
          </a:p>
        </p:txBody>
      </p:sp>
    </p:spTree>
    <p:extLst>
      <p:ext uri="{BB962C8B-B14F-4D97-AF65-F5344CB8AC3E}">
        <p14:creationId xmlns:p14="http://schemas.microsoft.com/office/powerpoint/2010/main" val="40078353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C0AF6-8F59-3457-C497-816A1CC91B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DE5454-10D7-B19D-04B1-5BA2348FD46C}"/>
              </a:ext>
            </a:extLst>
          </p:cNvPr>
          <p:cNvSpPr>
            <a:spLocks noGrp="1"/>
          </p:cNvSpPr>
          <p:nvPr>
            <p:ph type="title"/>
          </p:nvPr>
        </p:nvSpPr>
        <p:spPr/>
        <p:txBody>
          <a:bodyPr/>
          <a:lstStyle/>
          <a:p>
            <a:r>
              <a:rPr lang="en-US" b="1" dirty="0"/>
              <a:t>Data Description and Preparation</a:t>
            </a:r>
            <a:endParaRPr lang="en-IN" b="1" dirty="0"/>
          </a:p>
        </p:txBody>
      </p:sp>
      <p:sp>
        <p:nvSpPr>
          <p:cNvPr id="3" name="Content Placeholder 2">
            <a:extLst>
              <a:ext uri="{FF2B5EF4-FFF2-40B4-BE49-F238E27FC236}">
                <a16:creationId xmlns:a16="http://schemas.microsoft.com/office/drawing/2014/main" id="{DB22F44C-CD28-A538-E1D4-F2C92F6EEB02}"/>
              </a:ext>
            </a:extLst>
          </p:cNvPr>
          <p:cNvSpPr>
            <a:spLocks noGrp="1"/>
          </p:cNvSpPr>
          <p:nvPr>
            <p:ph idx="1"/>
          </p:nvPr>
        </p:nvSpPr>
        <p:spPr/>
        <p:txBody>
          <a:bodyPr>
            <a:normAutofit lnSpcReduction="10000"/>
          </a:bodyPr>
          <a:lstStyle/>
          <a:p>
            <a:pPr marL="0" indent="0">
              <a:buNone/>
            </a:pPr>
            <a:r>
              <a:rPr lang="en-US" sz="2400" dirty="0"/>
              <a:t>Data Cleaning:</a:t>
            </a:r>
            <a:br>
              <a:rPr lang="en-US" sz="2400" dirty="0"/>
            </a:br>
            <a:endParaRPr lang="en-US" sz="2400" dirty="0"/>
          </a:p>
          <a:p>
            <a:r>
              <a:rPr lang="en-US" sz="2400" dirty="0"/>
              <a:t>With the help of </a:t>
            </a:r>
            <a:r>
              <a:rPr lang="en-US" sz="2400" b="1" u="sng" dirty="0"/>
              <a:t>spread ness</a:t>
            </a:r>
            <a:r>
              <a:rPr lang="en-US" sz="2400" dirty="0"/>
              <a:t> of the data identified lower bound and upper bound values for both sales and discount, but as in this project there is no client interaction and proper insights on outlier they were not removed.</a:t>
            </a:r>
          </a:p>
          <a:p>
            <a:r>
              <a:rPr lang="en-US" sz="2400" dirty="0"/>
              <a:t>The Values are formatted to tables.</a:t>
            </a:r>
          </a:p>
          <a:p>
            <a:r>
              <a:rPr lang="en-US" sz="2400" b="1" u="sng" dirty="0"/>
              <a:t>Data Validation Techniques </a:t>
            </a:r>
            <a:r>
              <a:rPr lang="en-US" sz="2400" dirty="0"/>
              <a:t>are placed to intimidate the user on any negative values inputted on future.</a:t>
            </a:r>
            <a:endParaRPr lang="en-IN" sz="2400" dirty="0"/>
          </a:p>
        </p:txBody>
      </p:sp>
    </p:spTree>
    <p:extLst>
      <p:ext uri="{BB962C8B-B14F-4D97-AF65-F5344CB8AC3E}">
        <p14:creationId xmlns:p14="http://schemas.microsoft.com/office/powerpoint/2010/main" val="669041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03521-B58B-2456-BD6B-45759892E941}"/>
              </a:ext>
            </a:extLst>
          </p:cNvPr>
          <p:cNvSpPr>
            <a:spLocks noGrp="1"/>
          </p:cNvSpPr>
          <p:nvPr>
            <p:ph type="title"/>
          </p:nvPr>
        </p:nvSpPr>
        <p:spPr/>
        <p:txBody>
          <a:bodyPr/>
          <a:lstStyle/>
          <a:p>
            <a:r>
              <a:rPr lang="en-US" b="1" dirty="0"/>
              <a:t>Data Before Cleaning</a:t>
            </a:r>
            <a:endParaRPr lang="en-IN" b="1" dirty="0"/>
          </a:p>
        </p:txBody>
      </p:sp>
      <p:pic>
        <p:nvPicPr>
          <p:cNvPr id="5" name="Content Placeholder 4">
            <a:extLst>
              <a:ext uri="{FF2B5EF4-FFF2-40B4-BE49-F238E27FC236}">
                <a16:creationId xmlns:a16="http://schemas.microsoft.com/office/drawing/2014/main" id="{608FA25A-3867-E841-E67D-3279693AFEA9}"/>
              </a:ext>
            </a:extLst>
          </p:cNvPr>
          <p:cNvPicPr>
            <a:picLocks noGrp="1" noChangeAspect="1"/>
          </p:cNvPicPr>
          <p:nvPr>
            <p:ph idx="1"/>
          </p:nvPr>
        </p:nvPicPr>
        <p:blipFill>
          <a:blip r:embed="rId2"/>
          <a:stretch>
            <a:fillRect/>
          </a:stretch>
        </p:blipFill>
        <p:spPr>
          <a:xfrm>
            <a:off x="1524168" y="2160588"/>
            <a:ext cx="6903701" cy="3881437"/>
          </a:xfrm>
          <a:prstGeom prst="rect">
            <a:avLst/>
          </a:prstGeom>
        </p:spPr>
      </p:pic>
    </p:spTree>
    <p:extLst>
      <p:ext uri="{BB962C8B-B14F-4D97-AF65-F5344CB8AC3E}">
        <p14:creationId xmlns:p14="http://schemas.microsoft.com/office/powerpoint/2010/main" val="21137110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6C3D2-AE74-6F68-6650-82AAA9CB60F4}"/>
              </a:ext>
            </a:extLst>
          </p:cNvPr>
          <p:cNvSpPr>
            <a:spLocks noGrp="1"/>
          </p:cNvSpPr>
          <p:nvPr>
            <p:ph type="title"/>
          </p:nvPr>
        </p:nvSpPr>
        <p:spPr>
          <a:xfrm>
            <a:off x="838200" y="365125"/>
            <a:ext cx="10515600" cy="1097915"/>
          </a:xfrm>
        </p:spPr>
        <p:txBody>
          <a:bodyPr/>
          <a:lstStyle/>
          <a:p>
            <a:r>
              <a:rPr lang="en-US" b="1" dirty="0"/>
              <a:t>Data After Cleaning </a:t>
            </a:r>
            <a:endParaRPr lang="en-IN" b="1" dirty="0"/>
          </a:p>
        </p:txBody>
      </p:sp>
      <p:pic>
        <p:nvPicPr>
          <p:cNvPr id="5" name="Content Placeholder 4">
            <a:extLst>
              <a:ext uri="{FF2B5EF4-FFF2-40B4-BE49-F238E27FC236}">
                <a16:creationId xmlns:a16="http://schemas.microsoft.com/office/drawing/2014/main" id="{12FF8D25-114E-D7B3-13EC-618B03387C95}"/>
              </a:ext>
            </a:extLst>
          </p:cNvPr>
          <p:cNvPicPr>
            <a:picLocks noGrp="1" noChangeAspect="1"/>
          </p:cNvPicPr>
          <p:nvPr>
            <p:ph idx="1"/>
          </p:nvPr>
        </p:nvPicPr>
        <p:blipFill>
          <a:blip r:embed="rId2"/>
          <a:stretch>
            <a:fillRect/>
          </a:stretch>
        </p:blipFill>
        <p:spPr>
          <a:xfrm>
            <a:off x="1524168" y="2160588"/>
            <a:ext cx="6903701" cy="3881437"/>
          </a:xfrm>
          <a:prstGeom prst="rect">
            <a:avLst/>
          </a:prstGeom>
        </p:spPr>
      </p:pic>
    </p:spTree>
    <p:extLst>
      <p:ext uri="{BB962C8B-B14F-4D97-AF65-F5344CB8AC3E}">
        <p14:creationId xmlns:p14="http://schemas.microsoft.com/office/powerpoint/2010/main" val="32568945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48B4D-712F-A11C-E2F5-345E0ED43668}"/>
              </a:ext>
            </a:extLst>
          </p:cNvPr>
          <p:cNvSpPr>
            <a:spLocks noGrp="1"/>
          </p:cNvSpPr>
          <p:nvPr>
            <p:ph type="title"/>
          </p:nvPr>
        </p:nvSpPr>
        <p:spPr/>
        <p:txBody>
          <a:bodyPr/>
          <a:lstStyle/>
          <a:p>
            <a:r>
              <a:rPr lang="en-US" b="1" dirty="0"/>
              <a:t>Key Metrics and Data Analysis</a:t>
            </a:r>
            <a:endParaRPr lang="en-IN" b="1" dirty="0"/>
          </a:p>
        </p:txBody>
      </p:sp>
      <p:pic>
        <p:nvPicPr>
          <p:cNvPr id="9" name="Content Placeholder 8">
            <a:extLst>
              <a:ext uri="{FF2B5EF4-FFF2-40B4-BE49-F238E27FC236}">
                <a16:creationId xmlns:a16="http://schemas.microsoft.com/office/drawing/2014/main" id="{CFA2B8FB-B3D9-A604-01DE-74D2618C9F5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34904" y="1690688"/>
            <a:ext cx="8370277" cy="757090"/>
          </a:xfrm>
        </p:spPr>
      </p:pic>
      <p:graphicFrame>
        <p:nvGraphicFramePr>
          <p:cNvPr id="10" name="Chart 9">
            <a:extLst>
              <a:ext uri="{FF2B5EF4-FFF2-40B4-BE49-F238E27FC236}">
                <a16:creationId xmlns:a16="http://schemas.microsoft.com/office/drawing/2014/main" id="{CFFC22F6-2605-FBF7-C803-080BE05DB96A}"/>
              </a:ext>
            </a:extLst>
          </p:cNvPr>
          <p:cNvGraphicFramePr>
            <a:graphicFrameLocks/>
          </p:cNvGraphicFramePr>
          <p:nvPr>
            <p:extLst>
              <p:ext uri="{D42A27DB-BD31-4B8C-83A1-F6EECF244321}">
                <p14:modId xmlns:p14="http://schemas.microsoft.com/office/powerpoint/2010/main" val="1133516246"/>
              </p:ext>
            </p:extLst>
          </p:nvPr>
        </p:nvGraphicFramePr>
        <p:xfrm>
          <a:off x="1533377" y="3038623"/>
          <a:ext cx="7652825" cy="296828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4301191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A699AE3-3753-C195-A42A-D724252BA89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75582" y="703459"/>
            <a:ext cx="8567224" cy="5451082"/>
          </a:xfrm>
        </p:spPr>
      </p:pic>
    </p:spTree>
    <p:extLst>
      <p:ext uri="{BB962C8B-B14F-4D97-AF65-F5344CB8AC3E}">
        <p14:creationId xmlns:p14="http://schemas.microsoft.com/office/powerpoint/2010/main" val="39145578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922EA-57F9-1E64-5462-566348627ADA}"/>
              </a:ext>
            </a:extLst>
          </p:cNvPr>
          <p:cNvSpPr>
            <a:spLocks noGrp="1"/>
          </p:cNvSpPr>
          <p:nvPr>
            <p:ph type="title"/>
          </p:nvPr>
        </p:nvSpPr>
        <p:spPr/>
        <p:txBody>
          <a:bodyPr/>
          <a:lstStyle/>
          <a:p>
            <a:r>
              <a:rPr lang="en-US" b="1" dirty="0"/>
              <a:t>Pivot tables and Pivot Charts</a:t>
            </a:r>
            <a:endParaRPr lang="en-IN" b="1" dirty="0"/>
          </a:p>
        </p:txBody>
      </p:sp>
      <p:pic>
        <p:nvPicPr>
          <p:cNvPr id="5" name="Content Placeholder 4">
            <a:extLst>
              <a:ext uri="{FF2B5EF4-FFF2-40B4-BE49-F238E27FC236}">
                <a16:creationId xmlns:a16="http://schemas.microsoft.com/office/drawing/2014/main" id="{4ABB2D2B-B6BA-F935-702E-7D7A19072BAF}"/>
              </a:ext>
            </a:extLst>
          </p:cNvPr>
          <p:cNvPicPr>
            <a:picLocks noGrp="1" noChangeAspect="1"/>
          </p:cNvPicPr>
          <p:nvPr>
            <p:ph idx="1"/>
          </p:nvPr>
        </p:nvPicPr>
        <p:blipFill>
          <a:blip r:embed="rId2"/>
          <a:stretch>
            <a:fillRect/>
          </a:stretch>
        </p:blipFill>
        <p:spPr>
          <a:xfrm>
            <a:off x="677863" y="1547446"/>
            <a:ext cx="8596139" cy="4700954"/>
          </a:xfrm>
          <a:prstGeom prst="rect">
            <a:avLst/>
          </a:prstGeom>
        </p:spPr>
      </p:pic>
    </p:spTree>
    <p:extLst>
      <p:ext uri="{BB962C8B-B14F-4D97-AF65-F5344CB8AC3E}">
        <p14:creationId xmlns:p14="http://schemas.microsoft.com/office/powerpoint/2010/main" val="1461356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EEAF920-A685-DE08-9543-14902BBA55EF}"/>
              </a:ext>
            </a:extLst>
          </p:cNvPr>
          <p:cNvPicPr>
            <a:picLocks noChangeAspect="1"/>
          </p:cNvPicPr>
          <p:nvPr/>
        </p:nvPicPr>
        <p:blipFill>
          <a:blip r:embed="rId2"/>
          <a:stretch>
            <a:fillRect/>
          </a:stretch>
        </p:blipFill>
        <p:spPr>
          <a:xfrm>
            <a:off x="1270781" y="1020150"/>
            <a:ext cx="9650438" cy="5594473"/>
          </a:xfrm>
          <a:prstGeom prst="rect">
            <a:avLst/>
          </a:prstGeom>
        </p:spPr>
      </p:pic>
      <p:sp>
        <p:nvSpPr>
          <p:cNvPr id="8" name="Title 7">
            <a:extLst>
              <a:ext uri="{FF2B5EF4-FFF2-40B4-BE49-F238E27FC236}">
                <a16:creationId xmlns:a16="http://schemas.microsoft.com/office/drawing/2014/main" id="{D77259E7-A338-B953-7ACB-6844E41B7E15}"/>
              </a:ext>
            </a:extLst>
          </p:cNvPr>
          <p:cNvSpPr>
            <a:spLocks noGrp="1"/>
          </p:cNvSpPr>
          <p:nvPr>
            <p:ph type="ctrTitle"/>
          </p:nvPr>
        </p:nvSpPr>
        <p:spPr>
          <a:xfrm>
            <a:off x="1270781" y="243376"/>
            <a:ext cx="9144000" cy="776775"/>
          </a:xfrm>
        </p:spPr>
        <p:txBody>
          <a:bodyPr>
            <a:normAutofit fontScale="90000"/>
          </a:bodyPr>
          <a:lstStyle/>
          <a:p>
            <a:pPr algn="l"/>
            <a:r>
              <a:rPr lang="en-US" b="1" dirty="0"/>
              <a:t>Dashboard</a:t>
            </a:r>
            <a:endParaRPr lang="en-IN" b="1" dirty="0"/>
          </a:p>
        </p:txBody>
      </p:sp>
    </p:spTree>
    <p:extLst>
      <p:ext uri="{BB962C8B-B14F-4D97-AF65-F5344CB8AC3E}">
        <p14:creationId xmlns:p14="http://schemas.microsoft.com/office/powerpoint/2010/main" val="24433476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87EA3-7F70-54A9-9B2B-E025465144EC}"/>
              </a:ext>
            </a:extLst>
          </p:cNvPr>
          <p:cNvSpPr>
            <a:spLocks noGrp="1"/>
          </p:cNvSpPr>
          <p:nvPr>
            <p:ph type="title"/>
          </p:nvPr>
        </p:nvSpPr>
        <p:spPr/>
        <p:txBody>
          <a:bodyPr/>
          <a:lstStyle/>
          <a:p>
            <a:r>
              <a:rPr lang="en-US" b="1" dirty="0"/>
              <a:t>Goal Seak and Scenario Manager</a:t>
            </a:r>
            <a:endParaRPr lang="en-IN" b="1" dirty="0"/>
          </a:p>
        </p:txBody>
      </p:sp>
      <p:pic>
        <p:nvPicPr>
          <p:cNvPr id="5" name="Content Placeholder 4">
            <a:extLst>
              <a:ext uri="{FF2B5EF4-FFF2-40B4-BE49-F238E27FC236}">
                <a16:creationId xmlns:a16="http://schemas.microsoft.com/office/drawing/2014/main" id="{E369A3A0-BBC7-D04F-0D74-1256757866E7}"/>
              </a:ext>
            </a:extLst>
          </p:cNvPr>
          <p:cNvPicPr>
            <a:picLocks noGrp="1" noChangeAspect="1"/>
          </p:cNvPicPr>
          <p:nvPr>
            <p:ph idx="1"/>
          </p:nvPr>
        </p:nvPicPr>
        <p:blipFill>
          <a:blip r:embed="rId2"/>
          <a:stretch>
            <a:fillRect/>
          </a:stretch>
        </p:blipFill>
        <p:spPr>
          <a:xfrm>
            <a:off x="874810" y="1652327"/>
            <a:ext cx="9858839" cy="4185765"/>
          </a:xfrm>
          <a:prstGeom prst="rect">
            <a:avLst/>
          </a:prstGeom>
        </p:spPr>
      </p:pic>
    </p:spTree>
    <p:extLst>
      <p:ext uri="{BB962C8B-B14F-4D97-AF65-F5344CB8AC3E}">
        <p14:creationId xmlns:p14="http://schemas.microsoft.com/office/powerpoint/2010/main" val="13012750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FC9C319-1E60-65D8-1368-B5227C6F979E}"/>
              </a:ext>
            </a:extLst>
          </p:cNvPr>
          <p:cNvPicPr>
            <a:picLocks noGrp="1" noChangeAspect="1"/>
          </p:cNvPicPr>
          <p:nvPr>
            <p:ph idx="1"/>
          </p:nvPr>
        </p:nvPicPr>
        <p:blipFill>
          <a:blip r:embed="rId2"/>
          <a:stretch>
            <a:fillRect/>
          </a:stretch>
        </p:blipFill>
        <p:spPr>
          <a:xfrm>
            <a:off x="1744394" y="1097280"/>
            <a:ext cx="8229600" cy="4121834"/>
          </a:xfrm>
          <a:prstGeom prst="rect">
            <a:avLst/>
          </a:prstGeom>
        </p:spPr>
      </p:pic>
    </p:spTree>
    <p:extLst>
      <p:ext uri="{BB962C8B-B14F-4D97-AF65-F5344CB8AC3E}">
        <p14:creationId xmlns:p14="http://schemas.microsoft.com/office/powerpoint/2010/main" val="12891551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789DB-2FBE-F330-DDD4-75223A06CCC7}"/>
              </a:ext>
            </a:extLst>
          </p:cNvPr>
          <p:cNvSpPr>
            <a:spLocks noGrp="1"/>
          </p:cNvSpPr>
          <p:nvPr>
            <p:ph type="title"/>
          </p:nvPr>
        </p:nvSpPr>
        <p:spPr/>
        <p:txBody>
          <a:bodyPr/>
          <a:lstStyle/>
          <a:p>
            <a:r>
              <a:rPr lang="en-US" b="1" dirty="0"/>
              <a:t>Marcos</a:t>
            </a:r>
            <a:endParaRPr lang="en-IN" b="1" dirty="0"/>
          </a:p>
        </p:txBody>
      </p:sp>
      <p:sp>
        <p:nvSpPr>
          <p:cNvPr id="3" name="Content Placeholder 2">
            <a:extLst>
              <a:ext uri="{FF2B5EF4-FFF2-40B4-BE49-F238E27FC236}">
                <a16:creationId xmlns:a16="http://schemas.microsoft.com/office/drawing/2014/main" id="{25446C5D-38D5-6483-C582-EAEB1540F435}"/>
              </a:ext>
            </a:extLst>
          </p:cNvPr>
          <p:cNvSpPr>
            <a:spLocks noGrp="1"/>
          </p:cNvSpPr>
          <p:nvPr>
            <p:ph idx="1"/>
          </p:nvPr>
        </p:nvSpPr>
        <p:spPr>
          <a:xfrm>
            <a:off x="677333" y="1491175"/>
            <a:ext cx="10717497" cy="5008099"/>
          </a:xfrm>
        </p:spPr>
        <p:txBody>
          <a:bodyPr/>
          <a:lstStyle/>
          <a:p>
            <a:r>
              <a:rPr lang="en-US" sz="2400" dirty="0"/>
              <a:t>Here I have recorded macros on – creating tables from a range of cells and then using formulas to create a new columns, I have found adj sales from sales and discount.</a:t>
            </a:r>
          </a:p>
          <a:p>
            <a:r>
              <a:rPr lang="en-US" sz="2400" dirty="0"/>
              <a:t>And used the recorded macros to reformulate a list of cells.</a:t>
            </a:r>
          </a:p>
          <a:p>
            <a:endParaRPr lang="en-US" dirty="0"/>
          </a:p>
        </p:txBody>
      </p:sp>
      <p:pic>
        <p:nvPicPr>
          <p:cNvPr id="5" name="Picture 4">
            <a:extLst>
              <a:ext uri="{FF2B5EF4-FFF2-40B4-BE49-F238E27FC236}">
                <a16:creationId xmlns:a16="http://schemas.microsoft.com/office/drawing/2014/main" id="{4EBF9728-DF70-CF9F-8C2D-234C66C72917}"/>
              </a:ext>
            </a:extLst>
          </p:cNvPr>
          <p:cNvPicPr>
            <a:picLocks noChangeAspect="1"/>
          </p:cNvPicPr>
          <p:nvPr/>
        </p:nvPicPr>
        <p:blipFill>
          <a:blip r:embed="rId2"/>
          <a:stretch>
            <a:fillRect/>
          </a:stretch>
        </p:blipFill>
        <p:spPr>
          <a:xfrm>
            <a:off x="1786597" y="3429001"/>
            <a:ext cx="8299938" cy="2395024"/>
          </a:xfrm>
          <a:prstGeom prst="rect">
            <a:avLst/>
          </a:prstGeom>
        </p:spPr>
      </p:pic>
    </p:spTree>
    <p:extLst>
      <p:ext uri="{BB962C8B-B14F-4D97-AF65-F5344CB8AC3E}">
        <p14:creationId xmlns:p14="http://schemas.microsoft.com/office/powerpoint/2010/main" val="3656524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AAAEB-7299-2B26-B2A5-7E3F6C405D8A}"/>
              </a:ext>
            </a:extLst>
          </p:cNvPr>
          <p:cNvSpPr>
            <a:spLocks noGrp="1"/>
          </p:cNvSpPr>
          <p:nvPr>
            <p:ph type="title"/>
          </p:nvPr>
        </p:nvSpPr>
        <p:spPr/>
        <p:txBody>
          <a:bodyPr/>
          <a:lstStyle/>
          <a:p>
            <a:r>
              <a:rPr lang="en-US" b="1" dirty="0"/>
              <a:t>Insights and Recommendations – Ship Mode</a:t>
            </a:r>
            <a:endParaRPr lang="en-IN" b="1" dirty="0"/>
          </a:p>
        </p:txBody>
      </p:sp>
      <p:sp>
        <p:nvSpPr>
          <p:cNvPr id="3" name="Content Placeholder 2">
            <a:extLst>
              <a:ext uri="{FF2B5EF4-FFF2-40B4-BE49-F238E27FC236}">
                <a16:creationId xmlns:a16="http://schemas.microsoft.com/office/drawing/2014/main" id="{F5A5733F-5020-7210-FDF1-99671D085DA7}"/>
              </a:ext>
            </a:extLst>
          </p:cNvPr>
          <p:cNvSpPr>
            <a:spLocks noGrp="1"/>
          </p:cNvSpPr>
          <p:nvPr>
            <p:ph idx="1"/>
          </p:nvPr>
        </p:nvSpPr>
        <p:spPr>
          <a:xfrm>
            <a:off x="838200" y="1825625"/>
            <a:ext cx="10515600" cy="4898732"/>
          </a:xfrm>
        </p:spPr>
        <p:txBody>
          <a:bodyPr/>
          <a:lstStyle/>
          <a:p>
            <a:pPr algn="just"/>
            <a:r>
              <a:rPr lang="en-IN" sz="2400" dirty="0"/>
              <a:t>Here in Ship Mode </a:t>
            </a:r>
            <a:r>
              <a:rPr lang="en-IN" sz="2400" b="1" u="sng" dirty="0"/>
              <a:t>Standard class has Highest total sales but its average is lower,</a:t>
            </a:r>
            <a:r>
              <a:rPr lang="en-IN" sz="2400" dirty="0"/>
              <a:t> this implies that standard sales value per order of standard class is lesser. </a:t>
            </a:r>
          </a:p>
          <a:p>
            <a:pPr algn="just"/>
            <a:r>
              <a:rPr lang="en-IN" sz="2400" dirty="0"/>
              <a:t>This may imply 2 things the people  who are ordering through standard class generally orders less value orders or the discount for standard class is very higher, but by checking the average discount it is optimal, so it may suggest the first thing.</a:t>
            </a:r>
          </a:p>
          <a:p>
            <a:endParaRPr lang="en-IN" dirty="0"/>
          </a:p>
        </p:txBody>
      </p:sp>
      <p:pic>
        <p:nvPicPr>
          <p:cNvPr id="6" name="Picture 5">
            <a:extLst>
              <a:ext uri="{FF2B5EF4-FFF2-40B4-BE49-F238E27FC236}">
                <a16:creationId xmlns:a16="http://schemas.microsoft.com/office/drawing/2014/main" id="{D1758B49-7534-6E23-8721-02191BF776F2}"/>
              </a:ext>
            </a:extLst>
          </p:cNvPr>
          <p:cNvPicPr>
            <a:picLocks noChangeAspect="1"/>
          </p:cNvPicPr>
          <p:nvPr/>
        </p:nvPicPr>
        <p:blipFill>
          <a:blip r:embed="rId2"/>
          <a:stretch>
            <a:fillRect/>
          </a:stretch>
        </p:blipFill>
        <p:spPr>
          <a:xfrm>
            <a:off x="838200" y="4635726"/>
            <a:ext cx="10697307" cy="1612674"/>
          </a:xfrm>
          <a:prstGeom prst="rect">
            <a:avLst/>
          </a:prstGeom>
        </p:spPr>
      </p:pic>
    </p:spTree>
    <p:extLst>
      <p:ext uri="{BB962C8B-B14F-4D97-AF65-F5344CB8AC3E}">
        <p14:creationId xmlns:p14="http://schemas.microsoft.com/office/powerpoint/2010/main" val="41014439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D93F2-BD09-E86A-A0CA-F7FAD3760D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52F03C-BD72-D50C-09A4-3774F90C0988}"/>
              </a:ext>
            </a:extLst>
          </p:cNvPr>
          <p:cNvSpPr>
            <a:spLocks noGrp="1"/>
          </p:cNvSpPr>
          <p:nvPr>
            <p:ph type="title"/>
          </p:nvPr>
        </p:nvSpPr>
        <p:spPr/>
        <p:txBody>
          <a:bodyPr/>
          <a:lstStyle/>
          <a:p>
            <a:r>
              <a:rPr lang="en-US" b="1" dirty="0"/>
              <a:t>Insights and Recommendations – Ship Mode</a:t>
            </a:r>
            <a:endParaRPr lang="en-IN" b="1" dirty="0"/>
          </a:p>
        </p:txBody>
      </p:sp>
      <p:sp>
        <p:nvSpPr>
          <p:cNvPr id="3" name="Content Placeholder 2">
            <a:extLst>
              <a:ext uri="{FF2B5EF4-FFF2-40B4-BE49-F238E27FC236}">
                <a16:creationId xmlns:a16="http://schemas.microsoft.com/office/drawing/2014/main" id="{0BBB32C1-A3FD-8A72-299E-23B3E56830AD}"/>
              </a:ext>
            </a:extLst>
          </p:cNvPr>
          <p:cNvSpPr>
            <a:spLocks noGrp="1"/>
          </p:cNvSpPr>
          <p:nvPr>
            <p:ph idx="1"/>
          </p:nvPr>
        </p:nvSpPr>
        <p:spPr>
          <a:xfrm>
            <a:off x="838200" y="1825625"/>
            <a:ext cx="10515600" cy="4898732"/>
          </a:xfrm>
        </p:spPr>
        <p:txBody>
          <a:bodyPr>
            <a:normAutofit/>
          </a:bodyPr>
          <a:lstStyle/>
          <a:p>
            <a:r>
              <a:rPr lang="en-IN" sz="2400" dirty="0"/>
              <a:t>Here we can see the </a:t>
            </a:r>
            <a:r>
              <a:rPr lang="en-IN" sz="2400" b="1" u="sng" dirty="0"/>
              <a:t>average of Second class is highest in the group</a:t>
            </a:r>
            <a:r>
              <a:rPr lang="en-IN" sz="2400" dirty="0"/>
              <a:t>, this may be because, the average discount is lower for second class. </a:t>
            </a:r>
          </a:p>
          <a:p>
            <a:r>
              <a:rPr lang="en-IN" sz="2400" dirty="0"/>
              <a:t>So to increase the average sales through each of these channels, customizing discounts and decreasing discounts are the proven ways.</a:t>
            </a:r>
          </a:p>
        </p:txBody>
      </p:sp>
      <p:pic>
        <p:nvPicPr>
          <p:cNvPr id="6" name="Picture 5">
            <a:extLst>
              <a:ext uri="{FF2B5EF4-FFF2-40B4-BE49-F238E27FC236}">
                <a16:creationId xmlns:a16="http://schemas.microsoft.com/office/drawing/2014/main" id="{7DC4A854-98D4-61E2-609A-0B82569BEEB7}"/>
              </a:ext>
            </a:extLst>
          </p:cNvPr>
          <p:cNvPicPr>
            <a:picLocks noChangeAspect="1"/>
          </p:cNvPicPr>
          <p:nvPr/>
        </p:nvPicPr>
        <p:blipFill>
          <a:blip r:embed="rId2"/>
          <a:stretch>
            <a:fillRect/>
          </a:stretch>
        </p:blipFill>
        <p:spPr>
          <a:xfrm>
            <a:off x="838200" y="3761184"/>
            <a:ext cx="10697307" cy="1612674"/>
          </a:xfrm>
          <a:prstGeom prst="rect">
            <a:avLst/>
          </a:prstGeom>
        </p:spPr>
      </p:pic>
    </p:spTree>
    <p:extLst>
      <p:ext uri="{BB962C8B-B14F-4D97-AF65-F5344CB8AC3E}">
        <p14:creationId xmlns:p14="http://schemas.microsoft.com/office/powerpoint/2010/main" val="16408953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42FCD-A78E-6CC7-CD6C-BDD20BA70F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8E986F-97F9-B3F8-CA21-C316AA51C69D}"/>
              </a:ext>
            </a:extLst>
          </p:cNvPr>
          <p:cNvSpPr>
            <a:spLocks noGrp="1"/>
          </p:cNvSpPr>
          <p:nvPr>
            <p:ph type="title"/>
          </p:nvPr>
        </p:nvSpPr>
        <p:spPr/>
        <p:txBody>
          <a:bodyPr/>
          <a:lstStyle/>
          <a:p>
            <a:r>
              <a:rPr lang="en-US" b="1" dirty="0"/>
              <a:t>Insights and Recommendations – Product Category</a:t>
            </a:r>
            <a:endParaRPr lang="en-IN" b="1" dirty="0"/>
          </a:p>
        </p:txBody>
      </p:sp>
      <p:sp>
        <p:nvSpPr>
          <p:cNvPr id="3" name="Content Placeholder 2">
            <a:extLst>
              <a:ext uri="{FF2B5EF4-FFF2-40B4-BE49-F238E27FC236}">
                <a16:creationId xmlns:a16="http://schemas.microsoft.com/office/drawing/2014/main" id="{12CDC25F-1C56-D9EE-E189-DAD7ACFBDC44}"/>
              </a:ext>
            </a:extLst>
          </p:cNvPr>
          <p:cNvSpPr>
            <a:spLocks noGrp="1"/>
          </p:cNvSpPr>
          <p:nvPr>
            <p:ph idx="1"/>
          </p:nvPr>
        </p:nvSpPr>
        <p:spPr>
          <a:xfrm>
            <a:off x="838200" y="1825625"/>
            <a:ext cx="10515600" cy="4898732"/>
          </a:xfrm>
        </p:spPr>
        <p:txBody>
          <a:bodyPr/>
          <a:lstStyle/>
          <a:p>
            <a:pPr lvl="0"/>
            <a:r>
              <a:rPr lang="en-IN" sz="2400" dirty="0"/>
              <a:t>we can see in product category </a:t>
            </a:r>
            <a:r>
              <a:rPr lang="en-IN" sz="2400" b="1" u="sng" dirty="0"/>
              <a:t>The highest performing category is technology</a:t>
            </a:r>
            <a:r>
              <a:rPr lang="en-IN" sz="2400" dirty="0"/>
              <a:t> with 7 lakh dollars in sales with phones performing the highest even among every products with the sales of 2.8 lakh dollars.</a:t>
            </a:r>
          </a:p>
          <a:p>
            <a:pPr lvl="0"/>
            <a:r>
              <a:rPr lang="en-IN" sz="2400" dirty="0"/>
              <a:t>But we can see that others are not performing badly as well they are neck to neck in sales.</a:t>
            </a:r>
          </a:p>
        </p:txBody>
      </p:sp>
      <p:pic>
        <p:nvPicPr>
          <p:cNvPr id="5" name="Picture 4">
            <a:extLst>
              <a:ext uri="{FF2B5EF4-FFF2-40B4-BE49-F238E27FC236}">
                <a16:creationId xmlns:a16="http://schemas.microsoft.com/office/drawing/2014/main" id="{75C4BF9D-4E05-FD08-3AED-21A6A741E480}"/>
              </a:ext>
            </a:extLst>
          </p:cNvPr>
          <p:cNvPicPr>
            <a:picLocks noChangeAspect="1"/>
          </p:cNvPicPr>
          <p:nvPr/>
        </p:nvPicPr>
        <p:blipFill>
          <a:blip r:embed="rId2"/>
          <a:stretch>
            <a:fillRect/>
          </a:stretch>
        </p:blipFill>
        <p:spPr>
          <a:xfrm>
            <a:off x="1181686" y="4413610"/>
            <a:ext cx="9833317" cy="1829055"/>
          </a:xfrm>
          <a:prstGeom prst="rect">
            <a:avLst/>
          </a:prstGeom>
        </p:spPr>
      </p:pic>
    </p:spTree>
    <p:extLst>
      <p:ext uri="{BB962C8B-B14F-4D97-AF65-F5344CB8AC3E}">
        <p14:creationId xmlns:p14="http://schemas.microsoft.com/office/powerpoint/2010/main" val="26556835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85EAA-702A-9AB9-BF62-4367CFDAB5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1A316F-EBCD-968F-B2DC-297457FF520B}"/>
              </a:ext>
            </a:extLst>
          </p:cNvPr>
          <p:cNvSpPr>
            <a:spLocks noGrp="1"/>
          </p:cNvSpPr>
          <p:nvPr>
            <p:ph type="title"/>
          </p:nvPr>
        </p:nvSpPr>
        <p:spPr/>
        <p:txBody>
          <a:bodyPr/>
          <a:lstStyle/>
          <a:p>
            <a:r>
              <a:rPr lang="en-US" b="1" dirty="0"/>
              <a:t>Insights and Recommendations – Product Category</a:t>
            </a:r>
            <a:endParaRPr lang="en-IN" b="1" dirty="0"/>
          </a:p>
        </p:txBody>
      </p:sp>
      <p:sp>
        <p:nvSpPr>
          <p:cNvPr id="3" name="Content Placeholder 2">
            <a:extLst>
              <a:ext uri="{FF2B5EF4-FFF2-40B4-BE49-F238E27FC236}">
                <a16:creationId xmlns:a16="http://schemas.microsoft.com/office/drawing/2014/main" id="{14FD0C74-9CD3-CB59-0DF7-5DACF207D8D4}"/>
              </a:ext>
            </a:extLst>
          </p:cNvPr>
          <p:cNvSpPr>
            <a:spLocks noGrp="1"/>
          </p:cNvSpPr>
          <p:nvPr>
            <p:ph idx="1"/>
          </p:nvPr>
        </p:nvSpPr>
        <p:spPr>
          <a:xfrm>
            <a:off x="838200" y="1825625"/>
            <a:ext cx="10515600" cy="4898732"/>
          </a:xfrm>
        </p:spPr>
        <p:txBody>
          <a:bodyPr/>
          <a:lstStyle/>
          <a:p>
            <a:pPr lvl="0"/>
            <a:r>
              <a:rPr lang="en-IN" sz="2400" b="1" u="sng" dirty="0"/>
              <a:t>For future concentrations - focusing on most reliable products </a:t>
            </a:r>
            <a:r>
              <a:rPr lang="en-IN" sz="2400" dirty="0"/>
              <a:t>and products with the room of growth, phone can be one of such product with highest sales and we can see that machines and copiers have highest average sales as their sales is higher and the quantity sold is lesser. </a:t>
            </a:r>
          </a:p>
          <a:p>
            <a:pPr lvl="0"/>
            <a:r>
              <a:rPr lang="en-IN" sz="2400" dirty="0"/>
              <a:t>so </a:t>
            </a:r>
            <a:r>
              <a:rPr lang="en-IN" sz="2400" b="1" u="sng" dirty="0"/>
              <a:t>machines copiers and phones</a:t>
            </a:r>
            <a:r>
              <a:rPr lang="en-IN" sz="2400" dirty="0"/>
              <a:t> because of these reasons can be best for making it star products - altogether superstore can make technology as their star category.</a:t>
            </a:r>
          </a:p>
          <a:p>
            <a:pPr marL="0" indent="0">
              <a:buNone/>
            </a:pPr>
            <a:r>
              <a:rPr lang="en-IN" dirty="0"/>
              <a:t>.</a:t>
            </a:r>
          </a:p>
        </p:txBody>
      </p:sp>
      <p:pic>
        <p:nvPicPr>
          <p:cNvPr id="5" name="Picture 4">
            <a:extLst>
              <a:ext uri="{FF2B5EF4-FFF2-40B4-BE49-F238E27FC236}">
                <a16:creationId xmlns:a16="http://schemas.microsoft.com/office/drawing/2014/main" id="{044B1890-603E-BFD0-535D-E6E4A8A87A9D}"/>
              </a:ext>
            </a:extLst>
          </p:cNvPr>
          <p:cNvPicPr>
            <a:picLocks noChangeAspect="1"/>
          </p:cNvPicPr>
          <p:nvPr/>
        </p:nvPicPr>
        <p:blipFill>
          <a:blip r:embed="rId2"/>
          <a:stretch>
            <a:fillRect/>
          </a:stretch>
        </p:blipFill>
        <p:spPr>
          <a:xfrm>
            <a:off x="1179341" y="5028945"/>
            <a:ext cx="9833317" cy="1829055"/>
          </a:xfrm>
          <a:prstGeom prst="rect">
            <a:avLst/>
          </a:prstGeom>
        </p:spPr>
      </p:pic>
    </p:spTree>
    <p:extLst>
      <p:ext uri="{BB962C8B-B14F-4D97-AF65-F5344CB8AC3E}">
        <p14:creationId xmlns:p14="http://schemas.microsoft.com/office/powerpoint/2010/main" val="25019459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1D2E4-3BFC-0EBD-2AE3-BBA8DE639E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146343-D989-F966-6262-4270F9B01ED1}"/>
              </a:ext>
            </a:extLst>
          </p:cNvPr>
          <p:cNvSpPr>
            <a:spLocks noGrp="1"/>
          </p:cNvSpPr>
          <p:nvPr>
            <p:ph type="title"/>
          </p:nvPr>
        </p:nvSpPr>
        <p:spPr/>
        <p:txBody>
          <a:bodyPr/>
          <a:lstStyle/>
          <a:p>
            <a:r>
              <a:rPr lang="en-US" b="1" dirty="0"/>
              <a:t>Insights and Recommendations – Effect of Discount</a:t>
            </a:r>
            <a:endParaRPr lang="en-IN" b="1" dirty="0"/>
          </a:p>
        </p:txBody>
      </p:sp>
      <p:sp>
        <p:nvSpPr>
          <p:cNvPr id="3" name="Content Placeholder 2">
            <a:extLst>
              <a:ext uri="{FF2B5EF4-FFF2-40B4-BE49-F238E27FC236}">
                <a16:creationId xmlns:a16="http://schemas.microsoft.com/office/drawing/2014/main" id="{0CD60869-EBAF-A066-E4EE-0F06EF06E725}"/>
              </a:ext>
            </a:extLst>
          </p:cNvPr>
          <p:cNvSpPr>
            <a:spLocks noGrp="1"/>
          </p:cNvSpPr>
          <p:nvPr>
            <p:ph idx="1"/>
          </p:nvPr>
        </p:nvSpPr>
        <p:spPr>
          <a:xfrm>
            <a:off x="838200" y="1825625"/>
            <a:ext cx="10515600" cy="4898732"/>
          </a:xfrm>
        </p:spPr>
        <p:txBody>
          <a:bodyPr>
            <a:normAutofit/>
          </a:bodyPr>
          <a:lstStyle/>
          <a:p>
            <a:pPr lvl="0"/>
            <a:r>
              <a:rPr lang="en-IN" sz="2400" dirty="0"/>
              <a:t>Discount have a significant impact on the net sales, as due to large portions of the discount as you could the sales value have significantly resulting in reduced profit.</a:t>
            </a:r>
          </a:p>
          <a:p>
            <a:pPr lvl="0"/>
            <a:r>
              <a:rPr lang="en-IN" sz="2400" dirty="0"/>
              <a:t>This might be due to unplanned excessive discount strategies or outliers</a:t>
            </a:r>
          </a:p>
          <a:p>
            <a:pPr lvl="0"/>
            <a:r>
              <a:rPr lang="en-IN" sz="2400" dirty="0"/>
              <a:t>As one of max discount is accounted for 80 percent and as well the  discount data skew is 1.6 directing towards outliers in data.</a:t>
            </a:r>
          </a:p>
          <a:p>
            <a:pPr marL="0" indent="0">
              <a:buNone/>
            </a:pPr>
            <a:endParaRPr lang="en-IN" sz="2400" dirty="0"/>
          </a:p>
        </p:txBody>
      </p:sp>
    </p:spTree>
    <p:extLst>
      <p:ext uri="{BB962C8B-B14F-4D97-AF65-F5344CB8AC3E}">
        <p14:creationId xmlns:p14="http://schemas.microsoft.com/office/powerpoint/2010/main" val="23745077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5E932-75D6-17F2-EF09-6ACF08418925}"/>
              </a:ext>
            </a:extLst>
          </p:cNvPr>
          <p:cNvSpPr>
            <a:spLocks noGrp="1"/>
          </p:cNvSpPr>
          <p:nvPr>
            <p:ph type="title"/>
          </p:nvPr>
        </p:nvSpPr>
        <p:spPr/>
        <p:txBody>
          <a:bodyPr/>
          <a:lstStyle/>
          <a:p>
            <a:r>
              <a:rPr lang="en-US" b="1" dirty="0"/>
              <a:t>Conclusion</a:t>
            </a:r>
            <a:endParaRPr lang="en-IN" b="1" dirty="0"/>
          </a:p>
        </p:txBody>
      </p:sp>
      <p:pic>
        <p:nvPicPr>
          <p:cNvPr id="6" name="Content Placeholder 5">
            <a:extLst>
              <a:ext uri="{FF2B5EF4-FFF2-40B4-BE49-F238E27FC236}">
                <a16:creationId xmlns:a16="http://schemas.microsoft.com/office/drawing/2014/main" id="{461DA522-75E2-1136-454D-93356B30F408}"/>
              </a:ext>
            </a:extLst>
          </p:cNvPr>
          <p:cNvPicPr>
            <a:picLocks noGrp="1" noChangeAspect="1"/>
          </p:cNvPicPr>
          <p:nvPr>
            <p:ph idx="1"/>
          </p:nvPr>
        </p:nvPicPr>
        <p:blipFill>
          <a:blip r:embed="rId2"/>
          <a:stretch>
            <a:fillRect/>
          </a:stretch>
        </p:blipFill>
        <p:spPr>
          <a:xfrm>
            <a:off x="1730325" y="1690688"/>
            <a:ext cx="8215533" cy="895475"/>
          </a:xfrm>
          <a:prstGeom prst="rect">
            <a:avLst/>
          </a:prstGeom>
        </p:spPr>
      </p:pic>
      <p:pic>
        <p:nvPicPr>
          <p:cNvPr id="4" name="Content Placeholder 4">
            <a:extLst>
              <a:ext uri="{FF2B5EF4-FFF2-40B4-BE49-F238E27FC236}">
                <a16:creationId xmlns:a16="http://schemas.microsoft.com/office/drawing/2014/main" id="{060B8CC4-5FF6-BE73-2262-71E0F18F95AA}"/>
              </a:ext>
            </a:extLst>
          </p:cNvPr>
          <p:cNvPicPr>
            <a:picLocks noChangeAspect="1"/>
          </p:cNvPicPr>
          <p:nvPr/>
        </p:nvPicPr>
        <p:blipFill>
          <a:blip r:embed="rId3"/>
          <a:stretch>
            <a:fillRect/>
          </a:stretch>
        </p:blipFill>
        <p:spPr>
          <a:xfrm>
            <a:off x="1730325" y="2785403"/>
            <a:ext cx="8215533" cy="3728074"/>
          </a:xfrm>
          <a:prstGeom prst="rect">
            <a:avLst/>
          </a:prstGeom>
        </p:spPr>
      </p:pic>
    </p:spTree>
    <p:extLst>
      <p:ext uri="{BB962C8B-B14F-4D97-AF65-F5344CB8AC3E}">
        <p14:creationId xmlns:p14="http://schemas.microsoft.com/office/powerpoint/2010/main" val="10865234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C4882-8B45-94A4-2C97-73BFD4D97320}"/>
              </a:ext>
            </a:extLst>
          </p:cNvPr>
          <p:cNvSpPr>
            <a:spLocks noGrp="1"/>
          </p:cNvSpPr>
          <p:nvPr>
            <p:ph type="title"/>
          </p:nvPr>
        </p:nvSpPr>
        <p:spPr/>
        <p:txBody>
          <a:bodyPr/>
          <a:lstStyle/>
          <a:p>
            <a:r>
              <a:rPr lang="en-US" b="1" dirty="0"/>
              <a:t>Conclusion</a:t>
            </a:r>
            <a:endParaRPr lang="en-IN" b="1" dirty="0"/>
          </a:p>
        </p:txBody>
      </p:sp>
      <p:sp>
        <p:nvSpPr>
          <p:cNvPr id="3" name="Content Placeholder 2">
            <a:extLst>
              <a:ext uri="{FF2B5EF4-FFF2-40B4-BE49-F238E27FC236}">
                <a16:creationId xmlns:a16="http://schemas.microsoft.com/office/drawing/2014/main" id="{B5D05664-B478-9765-10FD-857570FD30B6}"/>
              </a:ext>
            </a:extLst>
          </p:cNvPr>
          <p:cNvSpPr>
            <a:spLocks noGrp="1"/>
          </p:cNvSpPr>
          <p:nvPr>
            <p:ph idx="1"/>
          </p:nvPr>
        </p:nvSpPr>
        <p:spPr/>
        <p:txBody>
          <a:bodyPr/>
          <a:lstStyle/>
          <a:p>
            <a:pPr marL="0" indent="0">
              <a:buNone/>
            </a:pPr>
            <a:endParaRPr lang="en-IN" dirty="0"/>
          </a:p>
        </p:txBody>
      </p:sp>
      <p:pic>
        <p:nvPicPr>
          <p:cNvPr id="4" name="Content Placeholder 4">
            <a:extLst>
              <a:ext uri="{FF2B5EF4-FFF2-40B4-BE49-F238E27FC236}">
                <a16:creationId xmlns:a16="http://schemas.microsoft.com/office/drawing/2014/main" id="{490BA5FE-D6BA-AF4B-1D5E-9503F2203F39}"/>
              </a:ext>
            </a:extLst>
          </p:cNvPr>
          <p:cNvPicPr>
            <a:picLocks noChangeAspect="1"/>
          </p:cNvPicPr>
          <p:nvPr/>
        </p:nvPicPr>
        <p:blipFill>
          <a:blip r:embed="rId2"/>
          <a:stretch>
            <a:fillRect/>
          </a:stretch>
        </p:blipFill>
        <p:spPr>
          <a:xfrm>
            <a:off x="1744394" y="1850243"/>
            <a:ext cx="8229600" cy="4121834"/>
          </a:xfrm>
          <a:prstGeom prst="rect">
            <a:avLst/>
          </a:prstGeom>
        </p:spPr>
      </p:pic>
    </p:spTree>
    <p:extLst>
      <p:ext uri="{BB962C8B-B14F-4D97-AF65-F5344CB8AC3E}">
        <p14:creationId xmlns:p14="http://schemas.microsoft.com/office/powerpoint/2010/main" val="21791417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4F4B0-52DC-3A81-96FD-1531D3A4C3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64A488-3316-9CE8-97B4-695CB432837D}"/>
              </a:ext>
            </a:extLst>
          </p:cNvPr>
          <p:cNvSpPr>
            <a:spLocks noGrp="1"/>
          </p:cNvSpPr>
          <p:nvPr>
            <p:ph type="title"/>
          </p:nvPr>
        </p:nvSpPr>
        <p:spPr/>
        <p:txBody>
          <a:bodyPr/>
          <a:lstStyle/>
          <a:p>
            <a:r>
              <a:rPr lang="en-US" b="1" dirty="0"/>
              <a:t>Conclusion</a:t>
            </a:r>
            <a:endParaRPr lang="en-IN" b="1" dirty="0"/>
          </a:p>
        </p:txBody>
      </p:sp>
      <p:sp>
        <p:nvSpPr>
          <p:cNvPr id="3" name="Content Placeholder 2">
            <a:extLst>
              <a:ext uri="{FF2B5EF4-FFF2-40B4-BE49-F238E27FC236}">
                <a16:creationId xmlns:a16="http://schemas.microsoft.com/office/drawing/2014/main" id="{D73BDD32-3F78-4AE8-03C9-462D6D44761E}"/>
              </a:ext>
            </a:extLst>
          </p:cNvPr>
          <p:cNvSpPr>
            <a:spLocks noGrp="1"/>
          </p:cNvSpPr>
          <p:nvPr>
            <p:ph idx="1"/>
          </p:nvPr>
        </p:nvSpPr>
        <p:spPr/>
        <p:txBody>
          <a:bodyPr/>
          <a:lstStyle/>
          <a:p>
            <a:r>
              <a:rPr lang="en-IN" sz="2400" dirty="0"/>
              <a:t>One of such strategies is to decrease average discount from 14 to 12.9 percentage. So that net profit can be up to 20 lakhs</a:t>
            </a:r>
          </a:p>
          <a:p>
            <a:r>
              <a:rPr lang="en-IN" sz="2400" dirty="0"/>
              <a:t>And also to remove the outliers to get effective results with scenario manager, we can see that profit by 5 percent  gives higher net overall profit, but the more</a:t>
            </a:r>
          </a:p>
          <a:p>
            <a:r>
              <a:rPr lang="en-IN" sz="2400" dirty="0"/>
              <a:t>effective way is to increase sales by 10 percent, for which we should encourage promotions during seasons functions, festivals and holidays.</a:t>
            </a:r>
          </a:p>
          <a:p>
            <a:endParaRPr lang="en-IN" dirty="0"/>
          </a:p>
        </p:txBody>
      </p:sp>
    </p:spTree>
    <p:extLst>
      <p:ext uri="{BB962C8B-B14F-4D97-AF65-F5344CB8AC3E}">
        <p14:creationId xmlns:p14="http://schemas.microsoft.com/office/powerpoint/2010/main" val="194103833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273</TotalTime>
  <Words>737</Words>
  <Application>Microsoft Office PowerPoint</Application>
  <PresentationFormat>Widescreen</PresentationFormat>
  <Paragraphs>54</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Trebuchet MS</vt:lpstr>
      <vt:lpstr>Wingdings 3</vt:lpstr>
      <vt:lpstr>Facet</vt:lpstr>
      <vt:lpstr>Superstore Sales Analysis- Advanced Excel Project</vt:lpstr>
      <vt:lpstr>Project Overview</vt:lpstr>
      <vt:lpstr>Data Description and Preparation</vt:lpstr>
      <vt:lpstr>Data Description and Preparation</vt:lpstr>
      <vt:lpstr>Data Before Cleaning</vt:lpstr>
      <vt:lpstr>Data After Cleaning </vt:lpstr>
      <vt:lpstr>Key Metrics and Data Analysis</vt:lpstr>
      <vt:lpstr>PowerPoint Presentation</vt:lpstr>
      <vt:lpstr>Pivot tables and Pivot Charts</vt:lpstr>
      <vt:lpstr>Dashboard</vt:lpstr>
      <vt:lpstr>Goal Seak and Scenario Manager</vt:lpstr>
      <vt:lpstr>PowerPoint Presentation</vt:lpstr>
      <vt:lpstr>Marcos</vt:lpstr>
      <vt:lpstr>Insights and Recommendations – Ship Mode</vt:lpstr>
      <vt:lpstr>Insights and Recommendations – Ship Mode</vt:lpstr>
      <vt:lpstr>Insights and Recommendations – Product Category</vt:lpstr>
      <vt:lpstr>Insights and Recommendations – Product Category</vt:lpstr>
      <vt:lpstr>Insights and Recommendations – Effect of Discount</vt:lpstr>
      <vt:lpstr>Conclusion</vt:lpstr>
      <vt:lpstr>Conclusion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Shanmugasundaram, Rohinth</dc:creator>
  <cp:lastModifiedBy>Shanmugasundaram, Rohinth</cp:lastModifiedBy>
  <cp:revision>5</cp:revision>
  <dcterms:created xsi:type="dcterms:W3CDTF">2025-11-11T03:36:38Z</dcterms:created>
  <dcterms:modified xsi:type="dcterms:W3CDTF">2025-11-11T08:09:43Z</dcterms:modified>
</cp:coreProperties>
</file>